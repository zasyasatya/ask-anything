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743200" cy="3200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A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0">
                <a:solidFill>
                  <a:srgbClr val="9AA0B2"/>
                </a:solidFill>
              </a:defRPr>
            </a:pPr>
            <a:r>
              <a:t>LIVE SYSTEM • ASK-ANYTHING •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F2F2F7"/>
                </a:solidFill>
              </a:defRPr>
            </a:pPr>
            <a:r>
              <a:t>RAG + AI Agent</a:t>
            </a:r>
            <a:br/>
            <a:r>
              <a:t>Dari Knowledge ke Visualisasi Web</a:t>
            </a:r>
            <a:br/>
            <a:r>
              <a:t>Langsung sebagai Elemen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400" b="0">
                <a:solidFill>
                  <a:srgbClr val="9AA0B2"/>
                </a:solidFill>
              </a:defRPr>
            </a:pPr>
            <a:r>
              <a:t>Goal: Jawaban AI grounded dari dokumen yang di-upload user (tersimpan berstruktur, bisa di-retrieve) + visualisasi interaktif bukan hanya Mermaid.</a:t>
            </a:r>
            <a:br/>
            <a:br/>
            <a:r>
              <a:t>Materi: Cara kerja RAG • Agent orchestration • Visual web native • Task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F2F2F7"/>
                </a:solidFill>
              </a:defRPr>
            </a:pPr>
            <a:r>
              <a:t>Agenda &amp; Learning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2120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Fase 1 — RAG Fundamentals (3-12)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Masalah LLM tanpa RAG</a:t>
            </a:r>
            <a:br/>
            <a:r>
              <a:t>• Arsitektur ingestion: parse→chunk→embed→store</a:t>
            </a:r>
            <a:br/>
            <a:r>
              <a:t>• Chunking strategy &amp; embedding space</a:t>
            </a:r>
            <a:br/>
            <a:r>
              <a:t>• Retrieval: similarity, rerank,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097280"/>
            <a:ext cx="52120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Fase 2 — Agent + RAG (13-21)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Apa itu AI Agent &amp; ReAct loop</a:t>
            </a:r>
            <a:br/>
            <a:r>
              <a:t>• Bagaimana agent membagi tugas ke tools</a:t>
            </a:r>
            <a:br/>
            <a:r>
              <a:t>• Arsitektur Agent × RAG</a:t>
            </a:r>
            <a:br/>
            <a:r>
              <a:t>• Contoh nyata di codebase ask-anything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2120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86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Fase 3 — Visual Web Native (22-26)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5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Kenapa tidak hanya Mermaid?</a:t>
            </a:r>
            <a:br/>
            <a:r>
              <a:t>• Pola: Tool → JSON → React Renderer</a:t>
            </a:r>
            <a:br/>
            <a:r>
              <a:t>• GraphView interaktif, Chart, Table</a:t>
            </a:r>
            <a:br/>
            <a:r>
              <a:t>• Demo live generate 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749039"/>
            <a:ext cx="52120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886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Fase 4 — Implementasi &amp; Task (27-30)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5195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Target arsitektur lengkap</a:t>
            </a:r>
            <a:br/>
            <a:r>
              <a:t>• Tech stack: Chroma, embedding, parser</a:t>
            </a:r>
            <a:br/>
            <a:r>
              <a:t>• Task breakdown &amp; kriteria sukses</a:t>
            </a:r>
            <a:br/>
            <a:r>
              <a:t>• Best practices &amp; pitfalls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F2F2F7"/>
                </a:solidFill>
              </a:defRPr>
            </a:pPr>
            <a:r>
              <a:t>Kenapa LLM Saja Tidak Cukup?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F2F2F7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3832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❌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LLM mengarang jawaban saat tidak tahu</a:t>
            </a:r>
            <a:br/>
            <a:r>
              <a:t>• Tanpa grounding, jawaban meyakinkan tapi salah</a:t>
            </a:r>
            <a:br/>
            <a:r>
              <a:t>• Contoh: Q: SOP cuti? A: 12 hari (padahal 15 + approval HR)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3832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⚠️ Outdated &amp; No Private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Knowledge cutoff 2024</a:t>
            </a:r>
            <a:br/>
            <a:r>
              <a:t>• Dokumen internal tidak pernah dilihat saat training</a:t>
            </a:r>
            <a:br/>
            <a:r>
              <a:t>• Data privat tidak boleh dikirim ke training</a:t>
            </a:r>
            <a:br/>
            <a:r>
              <a:t>• Perlu jawaban dari file yang baru upload 5 menit lalu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097280"/>
            <a:ext cx="3383280" cy="237744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26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F2F7"/>
                </a:solidFill>
              </a:defRPr>
            </a:pPr>
            <a:r>
              <a:t>✅ Solusi: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C7C9D6"/>
                </a:solidFill>
              </a:defRPr>
            </a:pPr>
            <a:r>
              <a:t>• Retrieval-Augmented Generation</a:t>
            </a:r>
            <a:br/>
            <a:r>
              <a:t>• Sebelum menjawab, cari konteks relevan dulu</a:t>
            </a:r>
            <a:br/>
            <a:r>
              <a:t>• Lalu suruh LLM jawab HANYA dari konteks</a:t>
            </a:r>
            <a:br/>
            <a:r>
              <a:t>• Grounded + up-to-date + private-safe + sitasi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Apa itu RAG? Definisi Lengkap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Retrieval-Augmented Generation = teknik memberikan LLM akses ke external knowledge base saat inference, bukan saat training.</a:t>
            </a:r>
            <a:br/>
            <a:br/>
            <a:r>
              <a:t>Flow:</a:t>
            </a:r>
            <a:br/>
            <a:r>
              <a:t>1. Retrieval: context = retriever(q, D)  // top-k chunks relevan</a:t>
            </a:r>
            <a:br/>
            <a:r>
              <a:t>2. Augmentation: prompt = f"Konteks: {context}\nPertanyaan: {q}\nJawab hanya dari konteks + sitasi"</a:t>
            </a:r>
            <a:br/>
            <a:r>
              <a:t>3. Generation: answer = LLM(prompt)</a:t>
            </a:r>
            <a:br/>
            <a:br/>
            <a:r>
              <a:t>Kapan pakai RAG?</a:t>
            </a:r>
            <a:br/>
            <a:r>
              <a:t>• Data privat/internal (SOP, kontrak)</a:t>
            </a:r>
            <a:br/>
            <a:r>
              <a:t>• Data sering berubah</a:t>
            </a:r>
            <a:br/>
            <a:r>
              <a:t>• Butuh sitasi &amp; audit trail</a:t>
            </a:r>
            <a:br/>
            <a:r>
              <a:t>• Tidak punya budget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AA0B2"/>
                </a:solidFill>
              </a:defRPr>
            </a:pPr>
            <a:r>
              <a:t>RAG TRIANGLE:</a:t>
            </a:r>
            <a:br/>
            <a:br/>
            <a:r>
              <a:t>        LLM</a:t>
            </a:r>
            <a:br/>
            <a:r>
              <a:t>       /   \</a:t>
            </a:r>
            <a:br/>
            <a:r>
              <a:t>      /     \</a:t>
            </a:r>
            <a:br/>
            <a:r>
              <a:t>     /       \</a:t>
            </a:r>
            <a:br/>
            <a:r>
              <a:t>RETRIEVAL — KNOWLEDGE</a:t>
            </a:r>
            <a:br/>
            <a:br/>
            <a:r>
              <a:t>3 komponen harus seimbang — lemah satu, RAG gagal</a:t>
            </a:r>
            <a:br/>
            <a:br/>
            <a:r>
              <a:t>Perbandingan:</a:t>
            </a:r>
            <a:br/>
            <a:r>
              <a:t>Tanpa RAG: User → LLM (memory) → Jawaban Ngarang (hallucination risk)</a:t>
            </a:r>
            <a:br/>
            <a:r>
              <a:t>Dengan RAG: User → Retrieval (Vector DB) → LLM+Context → Grounded Answer + Citation [1][2]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Arsitektur RAG —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3474720" cy="109728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2F2F7"/>
                </a:solidFill>
              </a:defRPr>
            </a:pPr>
            <a:r>
              <a:t>1. INGESTION</a:t>
            </a:r>
            <a:br/>
            <a:r>
              <a:t>Upload→Parse→Chunk→Embed→Store</a:t>
            </a:r>
            <a:br/>
            <a:r>
              <a:t>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000" b="1">
                <a:solidFill>
                  <a:srgbClr val="7C5CFC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097280"/>
            <a:ext cx="3474720" cy="109728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2F2F7"/>
                </a:solidFill>
              </a:defRPr>
            </a:pPr>
            <a:r>
              <a:t>2. RETRIEVAL</a:t>
            </a:r>
            <a:br/>
            <a:r>
              <a:t>Query→Embed→Similarity→Rerank</a:t>
            </a:r>
            <a:br/>
            <a:r>
              <a:t>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097280"/>
            <a:ext cx="3474720" cy="1097280"/>
          </a:xfrm>
          <a:prstGeom prst="roundRect">
            <a:avLst/>
          </a:prstGeom>
          <a:solidFill>
            <a:srgbClr val="17172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rgbClr val="F2F2F7"/>
                </a:solidFill>
              </a:defRPr>
            </a:pPr>
            <a:r>
              <a:t>3. GENERATION</a:t>
            </a:r>
            <a:br/>
            <a:r>
              <a:t>Context+Prompt→LLM→Cited Answer+Visual</a:t>
            </a:r>
            <a:br/>
            <a:r>
              <a:t>GROUNDED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STEP 1 — INGESTION (detail):</a:t>
            </a:r>
            <a:br/>
            <a:r>
              <a:t>• Upload: POST /api/documents/upload → simpan file + ekstrak struktur {headings, tables, flows, paragraphs}</a:t>
            </a:r>
            <a:br/>
            <a:r>
              <a:t>• Chunking: structure-aware, 400 tokens, overlap 50, jangan potong table/flow, hierarchy dari headings</a:t>
            </a:r>
            <a:br/>
            <a:r>
              <a:t>• Embedding: model.encode(chunk) → 384-dim vector [0.02, -0.34, 0.88, ...]</a:t>
            </a:r>
            <a:br/>
            <a:r>
              <a:t>• Store: {id, vector, metadata: {doc_id, page, hierarchy: [SOP, Bab1], type: table, visualizable: true}} → Chroma/Qdrant/pgvector</a:t>
            </a:r>
            <a:br/>
            <a:br/>
            <a:r>
              <a:t>STEP 2 — RETRIEVAL:</a:t>
            </a:r>
            <a:br/>
            <a:r>
              <a:t>• Query embedding: q_emb = model.encode(query)</a:t>
            </a:r>
            <a:br/>
            <a:r>
              <a:t>• Cosine similarity: scores = cosine(q_emb, all_chunks), top_k=5</a:t>
            </a:r>
            <a:br/>
            <a:r>
              <a:t>• Reranking optional: cross-encoder bge-reranker-base untuk akurasi</a:t>
            </a:r>
            <a:br/>
            <a:r>
              <a:t>• Threshold 0.7: jika max(score) &lt; 0.7 → jawab 'tidak ada info' (cegah hallucination)</a:t>
            </a:r>
            <a:br/>
            <a:br/>
            <a:r>
              <a:t>STEP 3 — GENERATION:</a:t>
            </a:r>
            <a:br/>
            <a:r>
              <a:t>• Prompt augmented: SYSTEM: Jawab HANYA dari konteks + sitasi [n] + jika butuh visual panggil tool</a:t>
            </a:r>
            <a:br/>
            <a:r>
              <a:t>• LLM → grounded answer + citations [1][2]</a:t>
            </a:r>
            <a:br/>
            <a:r>
              <a:t>• Jika user minta visual: agent call create_diagram/create_chart → return structured JSON → frontend render GraphView/Chart (DOM interaktif, bukan string)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F2F2F7"/>
                </a:solidFill>
              </a:defRPr>
            </a:pPr>
            <a:r>
              <a:t>Deep Dive: Ingestion — Dari Upload ke Vector DB (Structure-Aware)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📤 1. Upload &amp; Parse (Structure-Aware)</a:t>
            </a:r>
            <a:br/>
            <a:r>
              <a:t>Jangan langsung plain text. Ekstrak struktur:</a:t>
            </a:r>
            <a:br/>
            <a:r>
              <a:t>{</a:t>
            </a:r>
            <a:br/>
            <a:r>
              <a:t>  file: SOP-Cuti.pdf, pages:12,</a:t>
            </a:r>
            <a:br/>
            <a:r>
              <a:t>  structure: [</a:t>
            </a:r>
            <a:br/>
            <a:r>
              <a:t>    {type:heading, level:1, text:SOP Cuti, page:1},</a:t>
            </a:r>
            <a:br/>
            <a:r>
              <a:t>    {type:heading, level:2, text:1. Jenis Cuti, page:1},</a:t>
            </a:r>
            <a:br/>
            <a:r>
              <a:t>    {type:list, items:[Cuti Tahunan 12 hari,...], page:2},</a:t>
            </a:r>
            <a:br/>
            <a:r>
              <a:t>    {type:table, headers:[Jenis,Durasi,Approval], rows:[...]},</a:t>
            </a:r>
            <a:br/>
            <a:r>
              <a:t>    {type:flow, text:Karyawan → Atasan → HR → Selesai}</a:t>
            </a:r>
            <a:br/>
            <a:r>
              <a:t>  ]</a:t>
            </a:r>
            <a:br/>
            <a:r>
              <a:t>}</a:t>
            </a:r>
            <a:br/>
            <a:r>
              <a:t>Parser: PyMuPDF (fitz) + pdfplumber untuk table, python-docx untuk DOCX</a:t>
            </a:r>
            <a:br/>
            <a:br/>
            <a:r>
              <a:t>✂️ 2. Chunking — Pecah dengan Cerdas</a:t>
            </a:r>
            <a:br/>
            <a:r>
              <a:t>❌ Naive: split_text(text, 500) → bisa potong tengah kalimat &amp; tabel</a:t>
            </a:r>
            <a:br/>
            <a:r>
              <a:t>✅ Smart: for section in structure: if table keep whole, if heading merge with next para, else semantic_chunk 400 + overlap 50</a:t>
            </a:r>
            <a:br/>
            <a:br/>
            <a:r>
              <a:t>🧮 3. Embedding</a:t>
            </a:r>
            <a:br/>
            <a:r>
              <a:t>emb = embedding_model.encode(chunk.text) → [0.021, -0.34, 0.88, ...] 768 dim</a:t>
            </a:r>
            <a:br/>
            <a:r>
              <a:t>Model: all-MiniLM-L6-v2 (384d, cepat), bge-m3 (1024d, best OSS), text-embedding-3-small (1536d)</a:t>
            </a:r>
            <a:br/>
            <a:br/>
            <a:r>
              <a:t>💾 4. Store — Vector DB + Metadata</a:t>
            </a:r>
            <a:br/>
            <a:r>
              <a:t>Metadata: document_id, page, hierarchy: [SOP Cuti, Jenis Cuti], type: table|flow|heading, visualizable: true, visual_type, entities</a:t>
            </a:r>
            <a:br/>
            <a:r>
              <a:t>DB: Chroma (mudah, persist lokal), Qdrant (fast, filter powerful), pgvector (pakai Postgres), SQLite+sqlite-vss (zero-ops)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822960"/>
            <a:ext cx="53035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Chunking Comparison:</a:t>
            </a:r>
            <a:br/>
            <a:br/>
            <a:r>
              <a:t>❌ FIXED SIZE (Naive):</a:t>
            </a:r>
            <a:br/>
            <a:r>
              <a:t>Bab 1: Jenis Cuti. Cuti tahunan adalah hak karyawan setelah 12 bulan kerja. Cuti ini sebanyak 12 ha|ri kerja...</a:t>
            </a:r>
            <a:br/>
            <a:r>
              <a:t>Tabel dipotong: | Jenis | Durasi | | Cuti Tahun | 12 hari | Cuti Sakit | ... |</a:t>
            </a:r>
            <a:br/>
            <a:r>
              <a:t>• Potong tengah kalimat → embedding rusak</a:t>
            </a:r>
            <a:br/>
            <a:r>
              <a:t>• Tabel terbelah → retrieval gagal</a:t>
            </a:r>
            <a:br/>
            <a:r>
              <a:t>• Hilang konteks hierarki</a:t>
            </a:r>
            <a:br/>
            <a:br/>
            <a:r>
              <a:t>✅ STRUCTURE + SEMANTIC:</a:t>
            </a:r>
            <a:br/>
            <a:r>
              <a:t>Chunk1 — Section: Jenis Cuti (p1): Bab 1: Jenis Cuti. Cuti tahunan hak setelah 12 bulan kerja 12 hari. metadata: {type: heading+para, hierarchy: [SOP Cuti &gt; Jenis Cuti]}</a:t>
            </a:r>
            <a:br/>
            <a:r>
              <a:t>Chunk2 — Table: Durasi Cuti (p2, keep whole): | Jenis | Durasi | Approval | | Cuti Tahunan | 12 hari | Atasan | ... metadata: {type: table, page:2}</a:t>
            </a:r>
            <a:br/>
            <a:r>
              <a:t>Chunk3 — Flow: Proses Pengajuan (p3): Karyawan → Atasan → HR → Selesai metadata: {type: flow, visualizable: true}</a:t>
            </a:r>
            <a:br/>
            <a:r>
              <a:t>• Utuh per semantic unit</a:t>
            </a:r>
            <a:br/>
            <a:r>
              <a:t>• Tabel &amp; flow tidak terpotong → bisa langsung jadi visual</a:t>
            </a:r>
            <a:br/>
            <a:r>
              <a:t>• Hierarchy tersimpan → bisa filter 'hanya dari Bab 1'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Embedding &amp; Vector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0292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Embedding = koordinat makna. Query 'cuti tahunan' harus dekat dengan chunk tentang 'jatah libur tahunan'.</a:t>
            </a:r>
            <a:br/>
            <a:br/>
            <a:r>
              <a:t>Model:</a:t>
            </a:r>
            <a:br/>
            <a:r>
              <a:t>• all-MiniLM-L6-v2: 384 dim, ⚡⚡⚡ cepat, Good quality, 80MB</a:t>
            </a:r>
            <a:br/>
            <a:r>
              <a:t>• bge-m3: 1024 dim, ⚡⚡, Best OSS</a:t>
            </a:r>
            <a:br/>
            <a:r>
              <a:t>• text-embedding-3-small: 1536 dim, API, Excellent</a:t>
            </a:r>
            <a:br/>
            <a:br/>
            <a:r>
              <a:t>Code:</a:t>
            </a:r>
            <a:br/>
            <a:r>
              <a:t>from sentence_transformers import SentenceTransformer</a:t>
            </a:r>
            <a:br/>
            <a:r>
              <a:t>model = SentenceTransformer('all-MiniLM-L6-v2')</a:t>
            </a:r>
            <a:br/>
            <a:r>
              <a:t>vec = model.encode('SOP cuti tahunan 12 hari')</a:t>
            </a:r>
            <a:br/>
            <a:r>
              <a:t># cosine similarity untuk retrieval</a:t>
            </a:r>
            <a:br/>
            <a:br/>
            <a:r>
              <a:t>Vector Space (2D projection concept):</a:t>
            </a:r>
            <a:br/>
            <a:r>
              <a:t>• Query 'cuti tahunan' di tengah</a:t>
            </a:r>
            <a:br/>
            <a:r>
              <a:t>• Dekat: 'Cuti tahunan 12 hari (table p2)' (0.89), 'Jatah libur tahunan' (0.85)</a:t>
            </a:r>
            <a:br/>
            <a:r>
              <a:t>• Agak jauh: 'Cuti sakit sesuai surat' (0.65)</a:t>
            </a:r>
            <a:br/>
            <a:r>
              <a:t>• Jauh: 'Laporan keuangan Q3' (0.32) → filtered out</a:t>
            </a:r>
            <a:br/>
            <a:br/>
            <a:r>
              <a:t>Hover di HTML slide untuk live demo interaktif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Storage — Simpan Berdasarkan Struktur (Kunci Visualisasi):</a:t>
            </a:r>
            <a:br/>
            <a:br/>
            <a:r>
              <a:t>{</a:t>
            </a:r>
            <a:br/>
            <a:r>
              <a:t>  id: sop_cuti_p2_table1,</a:t>
            </a:r>
            <a:br/>
            <a:r>
              <a:t>  text: | Jenis | Durasi | ...,</a:t>
            </a:r>
            <a:br/>
            <a:r>
              <a:t>  vector: [0.02, -0.11, ...],</a:t>
            </a:r>
            <a:br/>
            <a:r>
              <a:t>  metadata: {</a:t>
            </a:r>
            <a:br/>
            <a:r>
              <a:t>    document_id: doc_123,</a:t>
            </a:r>
            <a:br/>
            <a:r>
              <a:t>    document_name: SOP-Cuti.pdf,</a:t>
            </a:r>
            <a:br/>
            <a:r>
              <a:t>    page: 2,</a:t>
            </a:r>
            <a:br/>
            <a:r>
              <a:t>    hierarchy: [SOP Cuti, 1. Jenis Cuti, Tabel Durasi],</a:t>
            </a:r>
            <a:br/>
            <a:r>
              <a:t>    type: table, // heading|para|list|table|flow|image</a:t>
            </a:r>
            <a:br/>
            <a:r>
              <a:t>    visualizable: true,</a:t>
            </a:r>
            <a:br/>
            <a:r>
              <a:t>    visual_type: table, // table|flowchart|timeline|bar_chart</a:t>
            </a:r>
            <a:br/>
            <a:r>
              <a:t>    entities: [Cuti Tahunan, HR],</a:t>
            </a:r>
            <a:br/>
            <a:r>
              <a:t>  }</a:t>
            </a:r>
            <a:br/>
            <a:r>
              <a:t>}</a:t>
            </a:r>
            <a:br/>
            <a:br/>
            <a:r>
              <a:t>Kenapa Hierarchy Penting?</a:t>
            </a:r>
            <a:br/>
            <a:r>
              <a:t>• Filtering: 'Cari hanya di Bab 2' → filter metadata.hierarchy contains Bab 2</a:t>
            </a:r>
            <a:br/>
            <a:r>
              <a:t>• Grouping: group chunks per section jadi satu flowchart</a:t>
            </a:r>
            <a:br/>
            <a:r>
              <a:t>• Citation presisi: 'Menurut Tabel di halaman 2, Bab 1' bukan cuma [1]</a:t>
            </a:r>
            <a:br/>
            <a:r>
              <a:t>• Visual routing: type=flow → render flowchart, type=table → table interaktif</a:t>
            </a:r>
            <a:br/>
            <a:br/>
            <a:r>
              <a:t>Pilihan DB: Chroma (mudah, embed di Python), Qdrant (fast, filter), pgvector (Postgres), SQLite+sqlite-vss (zero-ops, cocok untuk ask-anything saat ini)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Retrieval — Dari Query ke Konteks Relevan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Pipeline: 👤 Query 'Berapa hari cuti tahunan?' → 🧮 Embed Query (384-dim vector) → 🔍 Similarity Search (cosine top-k=5) → 🏆 Rerank + Filter (cross-encoder + hierarchy) → Contexts</a:t>
            </a:r>
            <a:br/>
            <a:br/>
            <a:r>
              <a:t>Live animation di HTML: klik Play Retrieval</a:t>
            </a:r>
            <a:br/>
            <a:br/>
            <a:r>
              <a:t>Scores example:</a:t>
            </a:r>
            <a:br/>
            <a:r>
              <a:t>Chunk2 (table p2) 0.89 ████████████████████ keep</a:t>
            </a:r>
            <a:br/>
            <a:r>
              <a:t>Chunk1 (Bab 1) 0.82 ████████████████ keep</a:t>
            </a:r>
            <a:br/>
            <a:r>
              <a:t>Chunk5 (flow p3) 0.71 ██████████████ keep (borderline)</a:t>
            </a:r>
            <a:br/>
            <a:r>
              <a:t>Chunk9 (unrelated) 0.32 ██████ filtered out</a:t>
            </a:r>
            <a:br/>
            <a:br/>
            <a:r>
              <a:t>Parameter Penting:</a:t>
            </a:r>
            <a:br/>
            <a:r>
              <a:t>• top-k: berapa chunk diambil (3-10). Terlalu banyak → context bengkak, LLM bingung</a:t>
            </a:r>
            <a:br/>
            <a:r>
              <a:t>• similarity threshold: 0.75. Di bawah itu jangan dipakai → cegah hallucination</a:t>
            </a:r>
            <a:br/>
            <a:r>
              <a:t>• reranker: cross-encoder (bge-reranker) untuk urutkan ulang top-k lebih akurat</a:t>
            </a:r>
            <a:br/>
            <a:r>
              <a:t>• metadata filter: filter dulu per document_id / type sebelum vector search</a:t>
            </a:r>
            <a:br/>
            <a:br/>
            <a:r>
              <a:t>Anti-Hallucination:</a:t>
            </a:r>
            <a:br/>
            <a:r>
              <a:t>if max(similarities) &lt; 0.70:</a:t>
            </a:r>
            <a:br/>
            <a:r>
              <a:t>  return 'Maaf, tidak ada info tentang itu di dokumen.'</a:t>
            </a:r>
            <a:br/>
            <a:r>
              <a:t>else:</a:t>
            </a:r>
            <a:br/>
            <a:r>
              <a:t>  context = top_chunks</a:t>
            </a:r>
            <a:br/>
            <a:r>
              <a:t>  answer = LLM(f'Jawab HANYA dari konteks:\n{context}\nJika tidak ada, bilang tidak tahu.')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Generation — Jawaban Grounded + Sitasi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Prompt Template (Production):</a:t>
            </a:r>
            <a:br/>
            <a:br/>
            <a:r>
              <a:t>SYSTEM: Kamu adalah asisten yang menjawab HANYA dari konteks.</a:t>
            </a:r>
            <a:br/>
            <a:r>
              <a:t>Jika konteks tidak cukup, katakan tidak tahu. Jangan mengarang.</a:t>
            </a:r>
            <a:br/>
            <a:r>
              <a:t>Selalu sertakan sitasi [n] untuk setiap fakta.</a:t>
            </a:r>
            <a:br/>
            <a:br/>
            <a:r>
              <a:t>CONTEKS:</a:t>
            </a:r>
            <a:br/>
            <a:r>
              <a:t>[1] (SOP-Cuti.pdf, p2, Tabel Durasi): Cuti Tahunan 12 hari, approval Atasan</a:t>
            </a:r>
            <a:br/>
            <a:r>
              <a:t>[2] (SOP-Cuti.pdf, p3, Flow): Proses: Karyawan → Atasan → HR → Selesai</a:t>
            </a:r>
            <a:br/>
            <a:r>
              <a:t>[3] (SOP-Cuti.pdf, p1): Cuti tahunan hak setelah 12 bulan kerja</a:t>
            </a:r>
            <a:br/>
            <a:br/>
            <a:r>
              <a:t>USER: Berapa hari cuti tahunan dan bagaimana prosesnya?</a:t>
            </a:r>
            <a:br/>
            <a:br/>
            <a:r>
              <a:t>ASSISTANT:</a:t>
            </a:r>
            <a:br/>
            <a:r>
              <a:t>Cuti tahunan adalah 12 hari [1], diberikan setelah 12 bulan kerja [3].</a:t>
            </a:r>
            <a:br/>
            <a:r>
              <a:t>Proses pengajuannya: Karyawan → Atasan → HR → Selesai [2].</a:t>
            </a:r>
            <a:br/>
            <a:br/>
            <a:r>
              <a:t>Sumber:</a:t>
            </a:r>
            <a:br/>
            <a:r>
              <a:t>[1] SOP-Cuti.pdf p2</a:t>
            </a:r>
            <a:br/>
            <a:r>
              <a:t>[2] SOP-Cuti.pdf p3</a:t>
            </a:r>
            <a:br/>
            <a:br/>
            <a:r>
              <a:t>Seperti di ask-anything: sources.py register → prompt_block() → finalize_answer() verifikasi → UI render CiteChips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Citation Flow:</a:t>
            </a:r>
            <a:br/>
            <a:r>
              <a:t>📚 Sources [1] p2 table, [2] p3 flow, [3] p1 text → 🧠 LLM generate dengan [n] → ✅ Verify cek [n] valid? ada di sources? → 💬 Answer + Citation Bar</a:t>
            </a:r>
            <a:br/>
            <a:br/>
            <a:r>
              <a:t>Checklist Generation:</a:t>
            </a:r>
            <a:br/>
            <a:r>
              <a:t>• Selalu sertakan metadata (doc, page) di context</a:t>
            </a:r>
            <a:br/>
            <a:r>
              <a:t>• Instruksi eksplisit 'jangan mengarang'</a:t>
            </a:r>
            <a:br/>
            <a:r>
              <a:t>• Verifikasi sitasi di backend (bukan percaya LLM)</a:t>
            </a:r>
            <a:br/>
            <a:r>
              <a:t>• Fallback jika similarity rendah</a:t>
            </a:r>
            <a:br/>
            <a:r>
              <a:t>• Streaming jawaban + citations (SSE)</a:t>
            </a:r>
            <a:br/>
            <a:br/>
            <a:r>
              <a:t>RAG vs Fine-Tuning vs Prompt-Only:</a:t>
            </a:r>
            <a:br/>
            <a:r>
              <a:t>• Data privat: Prompt-Only ❌, RAG ✅, Fine-Tuning ⚠️ mahal &amp; statis</a:t>
            </a:r>
            <a:br/>
            <a:r>
              <a:t>• Update data: Prompt-Only manual, RAG ✅ upload baru langsung searchable, FT ❌ training ulang</a:t>
            </a:r>
            <a:br/>
            <a:r>
              <a:t>• Sitasi: Prompt-Only ❌, RAG ✅, FT ❌</a:t>
            </a:r>
            <a:br/>
            <a:r>
              <a:t>• Hallucination: Prompt-Only 🔴 tinggi, RAG 🟢 rendah, FT 🟡 medium</a:t>
            </a:r>
            <a:br/>
            <a:r>
              <a:t>• Visualisasi: Prompt-Only ❌ tebak, RAG ✅ dari struktur dokumen asli</a:t>
            </a:r>
            <a:br/>
            <a:r>
              <a:t>→ Untuk 'jawaban dari knowledge + upload dokumen' → RAG paling tepat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Apa itu AI Agent? (Bukan Sekadar Chatbot)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Definisi Agent:</a:t>
            </a:r>
            <a:br/>
            <a:r>
              <a:t>Agent = LLM + Tools + Loop + Memory. Dia tidak hanya menjawab, tapi bertindak: memutuskan tool apa yang dipakai, mengeksekusi, mengamati hasil, lalu melanjutkan.</a:t>
            </a:r>
            <a:br/>
            <a:br/>
            <a:r>
              <a:t>Chatbot biasa:</a:t>
            </a:r>
            <a:br/>
            <a:r>
              <a:t>user: cari SOP cuti</a:t>
            </a:r>
            <a:br/>
            <a:r>
              <a:t>bot: SOP cuti adalah... // dari memory, bisa ngarang</a:t>
            </a:r>
            <a:br/>
            <a:br/>
            <a:r>
              <a:t>Agent:</a:t>
            </a:r>
            <a:br/>
            <a:r>
              <a:t>user: cari SOP cuti + buatkan flowchart</a:t>
            </a:r>
            <a:br/>
            <a:r>
              <a:t>agent:</a:t>
            </a:r>
            <a:br/>
            <a:r>
              <a:t> 1. think: perlu cari di knowledge base</a:t>
            </a:r>
            <a:br/>
            <a:r>
              <a:t> 2. act: call retrieve_knowledge('SOP cuti')</a:t>
            </a:r>
            <a:br/>
            <a:r>
              <a:t> 3. observe: dapat 3 chunks + 1 flow structure</a:t>
            </a:r>
            <a:br/>
            <a:r>
              <a:t> 4. think: user mau flowchart, ada flow structure</a:t>
            </a:r>
            <a:br/>
            <a:r>
              <a:t> 5. act: call create_diagram(flow_data)</a:t>
            </a:r>
            <a:br/>
            <a:r>
              <a:t> 6. answer: jawaban + visual flowchart interaktif</a:t>
            </a:r>
            <a:br/>
            <a:br/>
            <a:r>
              <a:t>Agent vs RAG vs Workflow:</a:t>
            </a:r>
            <a:br/>
            <a:r>
              <a:t>• RAG (Pipeline): alur statis retrieve→generate, cocok Q&amp;A sederhana</a:t>
            </a:r>
            <a:br/>
            <a:r>
              <a:t>• Workflow (Fixed): alur ditentukan developer if-else, deterministik tapi tidak fleksibel</a:t>
            </a:r>
            <a:br/>
            <a:r>
              <a:t>• Agent (Dynamic): alur ditentukan LLM saat runtime, bisa chain tools, contoh: 'Bandingkan SOP lama vs baru + visualkan perbedaan' → retrieve 2 dokumen, compare, generate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Agent Loop — REACT:</a:t>
            </a:r>
            <a:br/>
            <a:br/>
            <a:r>
              <a:t>     🧠 REASON (LLM mikir)</a:t>
            </a:r>
            <a:br/>
            <a:r>
              <a:t>        ↓</a:t>
            </a:r>
            <a:br/>
            <a:r>
              <a:t>     🛠️ ACT (call tool)</a:t>
            </a:r>
            <a:br/>
            <a:r>
              <a:t>        ↓</a:t>
            </a:r>
            <a:br/>
            <a:r>
              <a:t>     👁️ OBSERVE (tool result → context)</a:t>
            </a:r>
            <a:br/>
            <a:r>
              <a:t>        ↓</a:t>
            </a:r>
            <a:br/>
            <a:r>
              <a:t>     Loop sampai final answer atau max_steps habis</a:t>
            </a:r>
            <a:br/>
            <a:br/>
            <a:r>
              <a:t>Siklus:</a:t>
            </a:r>
            <a:br/>
            <a:r>
              <a:t>• Reason: LLM mikir 'apa yang perlu dilakukan?' (chain-of-thought)</a:t>
            </a:r>
            <a:br/>
            <a:r>
              <a:t>• Act: pilih tool &amp; argumen (JSON)</a:t>
            </a:r>
            <a:br/>
            <a:r>
              <a:t>• Observe: baca hasil tool, masukkan ke context</a:t>
            </a:r>
            <a:br/>
            <a:r>
              <a:t>• Ulang</a:t>
            </a:r>
            <a:br/>
            <a:br/>
            <a:r>
              <a:t>Code:</a:t>
            </a:r>
            <a:br/>
            <a:r>
              <a:t>for step in range(max_steps): # 6</a:t>
            </a:r>
            <a:br/>
            <a:r>
              <a:t>  thought = LLM.reason(history)</a:t>
            </a:r>
            <a:br/>
            <a:r>
              <a:t>  tool_call = LLM.decide_tool(thought)</a:t>
            </a:r>
            <a:br/>
            <a:r>
              <a:t>  if not tool_call: break</a:t>
            </a:r>
            <a:br/>
            <a:r>
              <a:t>  result = execute(tool_call)</a:t>
            </a:r>
            <a:br/>
            <a:r>
              <a:t>  history.append(result)</a:t>
            </a:r>
            <a:br/>
            <a:br/>
            <a:r>
              <a:t>Di ask-anything: loop.py, max_steps=6, timeout 30s per tool, error jadi data (graceful), provenance badge untuk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F2F2F7"/>
                </a:solidFill>
              </a:defRPr>
            </a:pPr>
            <a:r>
              <a:t>Cara Kerja Agent — ReAct Loop Detail (dari codebase ask-anything)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7C9D6"/>
                </a:solidFill>
              </a:defRPr>
            </a:pPr>
            <a:r>
              <a:t>STEP 1 — PROMPT ASSEMBLY:</a:t>
            </a:r>
            <a:br/>
            <a:r>
              <a:t>SYSTEM: Kamu adalah asisten... Aturan: Jawab HANYA dari konteks dokumen, sertakan sitasi [n], jika butuh data panggil retrieve_knowledge, jika butuh visual panggil create_diagram/create_chart</a:t>
            </a:r>
            <a:br/>
            <a:r>
              <a:t>TOOLS: retrieve_knowledge(query, top_k, filter), create_diagram(kind, nodes, edges), create_chart(data, chart_type, x_key, y_key), web_search(query), calculator(expr)</a:t>
            </a:r>
            <a:br/>
            <a:r>
              <a:t>MESSAGES: [User] 'Buatkan flowchart proses cuti' + history → Kirim ke LLM dengan tool_schemas[]</a:t>
            </a:r>
            <a:br/>
            <a:br/>
            <a:r>
              <a:t>STEP 2 — LLM STREAMING (SSE):</a:t>
            </a:r>
            <a:br/>
            <a:r>
              <a:t>data: {delta:{content:'&lt;think&gt;User mau flowchart, perlu cari flow structure dulu'}} → data: {tool_calls:[{name:retrieve_knowledge, args:{query: proses cuti flow}}]} → finish_reason: tool_calls</a:t>
            </a:r>
            <a:br/>
            <a:r>
              <a:t>Di frontend: Interpreter panel thinking 45 tokens + tool_call retrieve_knowledge</a:t>
            </a:r>
            <a:br/>
            <a:r>
              <a:t>Parser di streamtags.py handle &lt;think&gt; yang terbelah antar chunk, tool args dicicil per index</a:t>
            </a:r>
            <a:br/>
            <a:br/>
            <a:r>
              <a:t>STEP 3 — TOOL SELECTION:</a:t>
            </a:r>
            <a:br/>
            <a:r>
              <a:t>LLM output JSON: {tool_calls: [{id:call_abc123, name:retrieve_knowledge, arguments:{query:proses pengajuan cuti flow, top_k:5, filter:{type:flow}}}]} Bisa multiple tools parallel: retrieve_knowledge + web_search</a:t>
            </a:r>
            <a:br/>
            <a:r>
              <a:t>LLM tidak eksekusi tool sendiri — dia hanya output JSON, backend yang eksekusi</a:t>
            </a:r>
            <a:br/>
            <a:br/>
            <a:r>
              <a:t>STEP 4 — TOOL EXECUTION (backend/app/agent/loop.py):</a:t>
            </a:r>
            <a:br/>
            <a:r>
              <a:t>tool = get_tool('retrieve_knowledge'); result = await asyncio.wait_for(tool.run(args, ctx), timeout=30)</a:t>
            </a:r>
            <a:br/>
            <a:r>
              <a:t>Tool implementation (rag.py): q_emb = embedder.encode(args.query); results = vectorstore.query(q_emb, top_k=5, filter=args.filter); return ToolResult(summary, data, ok, hits)</a:t>
            </a:r>
            <a:br/>
            <a:br/>
            <a:r>
              <a:t>STEP 5 — OBSERVATION:</a:t>
            </a:r>
            <a:br/>
            <a:r>
              <a:t>messages.append({role:tool, tool_call_id, content: json.dumps(results)}); sources.register_tool_result(...); prompt_block() untuk next LLM call: 'Daftar sumber: [1] (SOP-Cuti.pdf, p3, flow): Karyawan → Atasan → HR → Selesai'; + TOOL_RESULT_HINT system message</a:t>
            </a:r>
            <a:br/>
            <a:br/>
            <a:r>
              <a:t>STEP 6 — LOOP / FINAL ANSWER:</a:t>
            </a:r>
            <a:br/>
            <a:r>
              <a:t>for step in range(max_steps): events = await provider.stream(messages, tool_schemas); if not tool_calls: break; else loop lagi</a:t>
            </a:r>
            <a:br/>
            <a:r>
              <a:t>Contoh step2: LLM lihat flow structure, decide butuh visual → call create_diagram(nodes, edges) → Setelah semua tools, LLM generate final: 'Proses: Karyawan mengajukan ke Atasan, kemudian ke HR, lalu selesai [1]. [Visual flowchart interaktif]'; Backend verifikasi sitasi + simpan diagrams artifact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Bagaimana Agent Membagi Tugas ke Tools?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Tools adalah 'tangan' agent. LLM hanya otak — dia tidak bisa browsing atau bikin diagram sendiri, dia harus memanggil tool.</a:t>
            </a:r>
            <a:br/>
            <a:br/>
            <a:r>
              <a:t>TOOL REGISTRY (ask-anything + yang akan kalian buat):</a:t>
            </a:r>
            <a:br/>
            <a:r>
              <a:t>• retrieve_knowledge (📚): Cari di Vector DB (yang akan kalian build). Source: knowledge, evidence: true, args: {query, top_k, filter: {doc_id}}</a:t>
            </a:r>
            <a:br/>
            <a:r>
              <a:t>• web_search (🌐): Cari web (DDG). Source: browser, evidence: true</a:t>
            </a:r>
            <a:br/>
            <a:r>
              <a:t>• create_diagram (🔀): Generate Mermaid + Graph JSON. Source: diagram, visual</a:t>
            </a:r>
            <a:br/>
            <a:r>
              <a:t>• calculator (🧮): Hitung aman via AST. Source: compute</a:t>
            </a:r>
            <a:br/>
            <a:r>
              <a:t>• create_chart (📊) NEW: Buat chart dari data tabel. return {type:chart, chart_type:bar|line|pie, data:[{x,y}], x_key, y_key, title}</a:t>
            </a:r>
            <a:br/>
            <a:r>
              <a:t>• create_table (📋) NEW: Table interaktif sortable</a:t>
            </a:r>
            <a:br/>
            <a:r>
              <a:t>• create_timeline (📅) NEW: Timeline dari proses SOP</a:t>
            </a:r>
            <a:br/>
            <a:br/>
            <a:r>
              <a:t>Bagaimana LLM Memilih Tool?</a:t>
            </a:r>
            <a:br/>
            <a:r>
              <a:t>Tool schemas dikirim ke LLM sebagai JSON Schema: {name: retrieve_knowledge, description: Cari informasi dari dokumen yang di-upload user..., parameters: {query: {type:string}, top_k: {type:integer}}}</a:t>
            </a:r>
            <a:br/>
            <a:r>
              <a:t>LLM output: {tool_calls: [{id:call_1, name:retrieve_knowledge, arguments:{query:proses cuti tahunan}}]}</a:t>
            </a:r>
            <a:br/>
            <a:br/>
            <a:r>
              <a:t>Eksekusi &amp; Provenance (base.py):</a:t>
            </a:r>
            <a:br/>
            <a:r>
              <a:t>class Tool: name, source: browser|diagram|compute|knowledge, evidence: bool (apakah hasilnya jadi sumber sitasi?), run: async fn(args, ctx) -&gt; ToolResult</a:t>
            </a:r>
            <a:br/>
            <a:r>
              <a:t>Di loop.py: result = await asyncio.wait_for(tool.run(args, ctx), timeout=30); sources.register(result) if tool.evidence; messages.append({role:tool, content: result.data})</a:t>
            </a:r>
            <a:br/>
            <a:r>
              <a:t>Timeout 30s, error jadi data (bukan crash), provenance untuk UI badge</a:t>
            </a:r>
            <a:br/>
            <a:br/>
            <a:r>
              <a:t>Contoh Parallel Tool Calling:</a:t>
            </a:r>
            <a:br/>
            <a:r>
              <a:t>User: 'Cari SOP cuti di dokumen dan di web, bandingkan' → LLM decide need both sources → Parallel: retrieve_knowledge(query: SOP cuti) + web_search(query: SOP cuti Indonesia) → Observe both → Answer: Perbandingan + sitasi [1] internal, [2] web</a:t>
            </a:r>
            <a:br/>
            <a:br/>
            <a:r>
              <a:t>Tool Design Principle: Single responsibility (1 tool = 1 tugas jelas), Structured I/O (input JSON Schema, output JSON bukan string), Evidence flag, Idempotent, Fast &lt;2s ideal, timeout 30s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F2F2F7"/>
                </a:solidFill>
              </a:defRPr>
            </a:pPr>
            <a:r>
              <a:t>Arsitektur Agent × RAG — Gabungannya (Target)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7C9D6"/>
                </a:solidFill>
              </a:defRPr>
            </a:pPr>
            <a:r>
              <a:t>UPLOAD → CHUNK+EMBED → VECTOR DB</a:t>
            </a:r>
            <a:br/>
            <a:r>
              <a:t>📤 Upload PDF/DOCX/MD (parse structure) → ✂️🧮 Chunk+Embed structure-aware 400 tokens + overlap → 💾 Vector DB Chroma/Qdrant/pgvector + hierarchy metadata</a:t>
            </a:r>
            <a:br/>
            <a:br/>
            <a:r>
              <a:t>AGENT LOOP (ReAct) max_steps=6:</a:t>
            </a:r>
            <a:br/>
            <a:r>
              <a:t>🧠 LLM reason + decide → TOOLS: retrieve_knowledge | web_search | create_diagram | calculator | create_chart | create_table → 👁️ OBSERVE hasil tool masuk context + sources registry + visual payload → Jika masih butuh tool loop lagi, else final answer</a:t>
            </a:r>
            <a:br/>
            <a:r>
              <a:t>Final: 💬 FINAL ANSWER: grounded text + citations [1][2] + visual JSON → React component</a:t>
            </a:r>
            <a:br/>
            <a:br/>
            <a:r>
              <a:t>USER QUERY: 'Buatkan flowchart SOP cuti' → Agent Loop</a:t>
            </a:r>
            <a:br/>
            <a:r>
              <a:t>VISUAL WEB RENDERING:</a:t>
            </a:r>
            <a:br/>
            <a:r>
              <a:t>Structured JSON dari Tool: {type:flowchart, nodes:[{id:A,label:Karyawan,data:{role:requester}},...], edges:[{from:A,to:B,label:ajukan}]}</a:t>
            </a:r>
            <a:br/>
            <a:r>
              <a:t>→ GraphView: pan/zoom/drag node/click detail</a:t>
            </a:r>
            <a:br/>
            <a:r>
              <a:t>→ Chart/Table/Timeline: recharts / custom div</a:t>
            </a:r>
            <a:br/>
            <a:r>
              <a:t>→ DOM element native — bukan image, bukan markdown string, React component dengan state interaktif</a:t>
            </a:r>
            <a:br/>
            <a:br/>
            <a:r>
              <a:t>Flow Lengkap: Upload → Tanya → Visual:</a:t>
            </a:r>
            <a:br/>
            <a:r>
              <a:t>1. 📤 Upload SOP-Cuti.pdf drag &amp; drop → Backend parse extract text + tables + flows → 2. Chunk &amp; Embed structure-aware 400t → 💾 Store vector + metadata hierarchy → ✅ Ready 'Dokumen siap ditanya'</a:t>
            </a:r>
            <a:br/>
            <a:r>
              <a:t>3. 👤 'Buatkan flowchart proses cuti' → 🤖 Agent decide need retrieve_knowledge + create_diagram → 🔍 retrieve_knowledge top-k flow chunks → 🔀 create_diagram nodes/edges dari flow text → 💬 Jawaban + Visual Interaktif</a:t>
            </a:r>
            <a:br/>
            <a:br/>
            <a:r>
              <a:t>Task Decomposition: Planner (LLM): User mau flowchart → butuh data flow → Subtask1 retrieve flow structure, Subtask2 generate diagram JSON; Executor: call retrieve_knowledge(query='proses pengajuan cuti flow', filter type flow) → dapat 'Karyawan → Atasan → HR → Selesai', call create_diagram(kind flowchart, nodes, edges) → dapat {mermaid, graph}; Generator: Jawab dengan sitasi + render graph JSON sebagai komponen web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Visualisasi: Kenapa Tidak Hanya Mermaid?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❌ Limitasi Mermaid String:</a:t>
            </a:r>
            <a:br/>
            <a:r>
              <a:t>• Hanya string → tidak bisa interaktif (drag, zoom, filter)</a:t>
            </a:r>
            <a:br/>
            <a:r>
              <a:t>• All-or-nothing: 1 baris salah, seluruh diagram hilang</a:t>
            </a:r>
            <a:br/>
            <a:r>
              <a:t>• Tidak bisa binding data dinamis (klik node → detail)</a:t>
            </a:r>
            <a:br/>
            <a:r>
              <a:t>• Styling terbatas, tidak bisa pakai design system app</a:t>
            </a:r>
            <a:br/>
            <a:r>
              <a:t>• Tidak bisa reuse sebagai data (export ke JSON)</a:t>
            </a:r>
            <a:br/>
            <a:br/>
            <a:r>
              <a:t>Code Mermaid:</a:t>
            </a:r>
            <a:br/>
            <a:r>
              <a:t>```mermaid</a:t>
            </a:r>
            <a:br/>
            <a:r>
              <a:t>flowchart TD</a:t>
            </a:r>
            <a:br/>
            <a:r>
              <a:t>  A[Karyawan] --&gt; B[Atasan]</a:t>
            </a:r>
            <a:br/>
            <a:r>
              <a:t>  B --&gt; C[HR]</a:t>
            </a:r>
            <a:br/>
            <a:r>
              <a:t>``` → render jadi SVG statis, tidak bisa di-drag</a:t>
            </a:r>
            <a:br/>
            <a:br/>
            <a:r>
              <a:t>Perbandingan Rendering:</a:t>
            </a:r>
            <a:br/>
            <a:r>
              <a:t>Mermaid (string → SVG): flowchart TD A --&gt; B B --&gt; C → SVG statis, tidak interaktif</a:t>
            </a:r>
            <a:br/>
            <a:br/>
            <a:r>
              <a:t>Native Web (JSON → React DOM): [Karyawan] → [Atasan] → [HR] (div dengan border, bisa drag, zoom, click → detail, filter, fullscreen)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✅ Visual sebagai Elemen Web Native:</a:t>
            </a:r>
            <a:br/>
            <a:r>
              <a:t>• Structured JSON → React component → DOM interaktif</a:t>
            </a:r>
            <a:br/>
            <a:r>
              <a:t>• Bisa pan/zoom/drag node/klik untuk detail relasi</a:t>
            </a:r>
            <a:br/>
            <a:r>
              <a:t>• Bisa ganti layout (TD/LR), filter, search</a:t>
            </a:r>
            <a:br/>
            <a:r>
              <a:t>• Bisa export, fullscreen, embed</a:t>
            </a:r>
            <a:br/>
            <a:r>
              <a:t>• Data tetap ada → bisa jadi sumber untuk tool lain</a:t>
            </a:r>
            <a:br/>
            <a:br/>
            <a:r>
              <a:t>Code Native:</a:t>
            </a:r>
            <a:br/>
            <a:r>
              <a:t>{</a:t>
            </a:r>
            <a:br/>
            <a:r>
              <a:t>  type: flowchart,</a:t>
            </a:r>
            <a:br/>
            <a:r>
              <a:t>  nodes: [</a:t>
            </a:r>
            <a:br/>
            <a:r>
              <a:t>    {id:A,label:Karyawan,data:{role:requester}},</a:t>
            </a:r>
            <a:br/>
            <a:r>
              <a:t>    {id:B,label:Atasan,data:{role:approver}}</a:t>
            </a:r>
            <a:br/>
            <a:r>
              <a:t>  ],</a:t>
            </a:r>
            <a:br/>
            <a:r>
              <a:t>  edges: [{from:A,to:B,label:ajukan}]</a:t>
            </a:r>
            <a:br/>
            <a:r>
              <a:t>}</a:t>
            </a:r>
            <a:br/>
            <a:r>
              <a:t>→ &lt;GraphView nodes={...} edges={...} /&gt; interaktif: drag, zoom, click</a:t>
            </a:r>
            <a:br/>
            <a:br/>
            <a:r>
              <a:t>Pola: Tool → Structured JSON → React Renderer (inti ask-anything):</a:t>
            </a:r>
            <a:br/>
            <a:r>
              <a:t>Backend Tool create_diagram: normalisasi id, escape label, validasi edge, return {mermaid (fallback), graph: {nodes, edges, meta}, title, warnings}</a:t>
            </a:r>
            <a:br/>
            <a:r>
              <a:t>Agent Loop simpan sebagai artifact diagrams.append({tool:create_diagram, mermaid, graph})</a:t>
            </a:r>
            <a:br/>
            <a:r>
              <a:t>Frontend DiagramBlock.tsx: if payload.graph return &lt;GraphView model={parseMermaid(mermaid)} graph={payload.graph} /&gt; interaktif else &lt;Mermaid source={mermaid} /&gt; fallback</a:t>
            </a:r>
            <a:br/>
            <a:r>
              <a:t>Keuntungan: data bisa dipakai untuk reasoning selanjutnya, bukan dead-end SVG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1">
                <a:solidFill>
                  <a:srgbClr val="F2F2F7"/>
                </a:solidFill>
              </a:defRPr>
            </a:pPr>
            <a:r>
              <a:t>Pola: Tool → Structured JSON → React Renderer (Yang Akan Kalian Build)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7C9D6"/>
                </a:solidFill>
              </a:defRPr>
            </a:pPr>
            <a:r>
              <a:t>Data Flow:</a:t>
            </a:r>
            <a:br/>
            <a:r>
              <a:t>1. Backend Tool: create_diagram (diagrams.py) def create_diagram(kind, nodes, edges): normalisasi id, escape label, validasi edge, mermaid = f'flowchart TD\n' + nodes + edges, return {mermaid (fallback), graph: {nodes:[{id,label,x,y,data}], edges:[{from,to,label}], meta:{kind,title}}, title, warnings}</a:t>
            </a:r>
            <a:br/>
            <a:r>
              <a:t>2. Agent Loop simpan sebagai artifact diagrams.append({tool:create_diagram, mermaid:payload.mermaid, graph:payload.graph (ini yang dirender sebagai DOM)})</a:t>
            </a:r>
            <a:br/>
            <a:r>
              <a:t>3. Frontend: DiagramBlock.tsx if (payload.graph) return &lt;GraphView model={parseMermaid(mermaid)} graph={payload.graph} /&gt; interaktif else &lt;Mermaid source={mermaid} /&gt; fallback</a:t>
            </a:r>
            <a:br/>
            <a:br/>
            <a:r>
              <a:t>Yang Akan Kalian Build: Lebih dari Diagram:</a:t>
            </a:r>
            <a:br/>
            <a:r>
              <a:t>• 📊 create_chart: Bar/Line/Pie dari table di dokumen → {type:bar, data:[{x:Cuti Tahunan,y:12},...], xKey:jenis, yKey:hari}</a:t>
            </a:r>
            <a:br/>
            <a:r>
              <a:t>• 📅 create_timeline: Timeline dari proses SOP → {type:timeline, events:[{date:H+0,title:Ajukan},...]}</a:t>
            </a:r>
            <a:br/>
            <a:r>
              <a:t>• 📋 create_table: Table interaktif sortable → {type:table, headers:[Jenis,Hari], rows:[[Tahunan,12],...]}</a:t>
            </a:r>
            <a:br/>
            <a:r>
              <a:t>• 🗺️ create_knowledge_graph: Graph relasi entitas → {type:graph, nodes:[...], edges:[{from:Karyawan,to:HR}]}</a:t>
            </a:r>
            <a:br/>
            <a:br/>
            <a:r>
              <a:t>Prinsip: Data First, Visual Second:</a:t>
            </a:r>
            <a:br/>
            <a:r>
              <a:t>• Tool selalu return structured data dulu, visual string (mermaid) hanya fallback</a:t>
            </a:r>
            <a:br/>
            <a:r>
              <a:t>• Frontend punya registry renderer: type → Component</a:t>
            </a:r>
            <a:br/>
            <a:r>
              <a:t>• Contoh di codebase: lib/graph/parseMermaid.ts toleran (tidak throw), lib/graph/layout.ts deterministik, GraphView.tsx interaktif</a:t>
            </a:r>
            <a:br/>
            <a:r>
              <a:t>• Keuntungan: data bisa dipakai untuk reasoning selanjutnya, bukan dead-end SVG</a:t>
            </a:r>
            <a:br/>
            <a:br/>
            <a:r>
              <a:t>Live Demo di HTML slide: Klik Generate Chart/Table/Flowchart → muncul sebagai elemen web interaktif, bukan gambar. Lihat docs/slides-rag-agent.html slide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F2F2F7"/>
                </a:solidFill>
              </a:defRPr>
            </a:pPr>
            <a:r>
              <a:t>Goal Architecture — Target Akhir yang Harus Dibangun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7C9D6"/>
                </a:solidFill>
              </a:defRPr>
            </a:pPr>
            <a:r>
              <a:t>SYSTEM REQUIREMENTS CHECKLIST:</a:t>
            </a:r>
            <a:br/>
            <a:br/>
            <a:r>
              <a:t>1. Upload &amp; Structure:</a:t>
            </a:r>
            <a:br/>
            <a:r>
              <a:t>• UI drag &amp; drop PDF/DOCX/MD/TXT</a:t>
            </a:r>
            <a:br/>
            <a:r>
              <a:t>• Backend: /api/documents/upload (multipart)</a:t>
            </a:r>
            <a:br/>
            <a:r>
              <a:t>• Parse: PyMuPDF/pdfplumber + python-docx</a:t>
            </a:r>
            <a:br/>
            <a:r>
              <a:t>• Ekstrak: headings, paragraphs, lists, tables (keep whole), flows</a:t>
            </a:r>
            <a:br/>
            <a:r>
              <a:t>• Simpan file + metadata di data/documents/{id}/original.pdf + structure.json</a:t>
            </a:r>
            <a:br/>
            <a:r>
              <a:t>• ✅ Harus simpan struktur hierarchy</a:t>
            </a:r>
            <a:br/>
            <a:br/>
            <a:r>
              <a:t>2. RAG Pipeline:</a:t>
            </a:r>
            <a:br/>
            <a:r>
              <a:t>• Chunking: structure-aware, 400 tokens, overlap 50</a:t>
            </a:r>
            <a:br/>
            <a:r>
              <a:t>• Embedding: all-MiniLM-L6-v2 (lokal) atau OpenAI</a:t>
            </a:r>
            <a:br/>
            <a:r>
              <a:t>• Vector DB: Chroma (mudah) / Qdrant / pgvector</a:t>
            </a:r>
            <a:br/>
            <a:r>
              <a:t>• Metadata: doc_id, page, hierarchy, type, visualizable</a:t>
            </a:r>
            <a:br/>
            <a:r>
              <a:t>• Retrieval: top-k=5, threshold 0.7, rerank opsional</a:t>
            </a:r>
            <a:br/>
            <a:r>
              <a:t>• API: /api/rag/query → contexts + scores</a:t>
            </a:r>
            <a:br/>
            <a:br/>
            <a:r>
              <a:t>3. Agent Integration:</a:t>
            </a:r>
            <a:br/>
            <a:r>
              <a:t>• Tool baru: retrieve_knowledge</a:t>
            </a:r>
            <a:br/>
            <a:r>
              <a:t>• Tool visual: create_chart, create_table, create_timeline</a:t>
            </a:r>
            <a:br/>
            <a:r>
              <a:t>• Agent loop: sudah ada di loop.py, tinggal tambah tools</a:t>
            </a:r>
            <a:br/>
            <a:r>
              <a:t>• Prompt: instruksi 'jawab hanya dari konteks + sitasi'</a:t>
            </a:r>
            <a:br/>
            <a:r>
              <a:t>• Sources registry: untuk citations [1][2]</a:t>
            </a:r>
            <a:br/>
            <a:br/>
            <a:r>
              <a:t>4. Visual Web Native:</a:t>
            </a:r>
            <a:br/>
            <a:r>
              <a:t>• Backend return structured JSON (bukan hanya mermaid string)</a:t>
            </a:r>
            <a:br/>
            <a:r>
              <a:t>• Frontend registry: type → React component</a:t>
            </a:r>
            <a:br/>
            <a:r>
              <a:t>• Komponen: GraphView (sudah ada, bisa reuse), BarChart, Table, Timeline</a:t>
            </a:r>
            <a:br/>
            <a:r>
              <a:t>• Interaktif: drag, zoom, filter, sort, fullscreen</a:t>
            </a:r>
            <a:br/>
            <a:r>
              <a:t>• Payload disimpan di messages.meta.diagrams + trace_events</a:t>
            </a:r>
            <a:br/>
            <a:br/>
            <a:r>
              <a:t>5. Chat Experience:</a:t>
            </a:r>
            <a:br/>
            <a:r>
              <a:t>• User: 'Apa isi SOP cuti?' → RAG → grounded answer + citation</a:t>
            </a:r>
            <a:br/>
            <a:r>
              <a:t>• User: 'Buatkan flowchart prosesnya' → RAG flow type → GraphView interaktif</a:t>
            </a:r>
            <a:br/>
            <a:r>
              <a:t>• User: 'Visualkan tabel cuti jadi chart' → RAG table → create_chart → BarChart</a:t>
            </a:r>
            <a:br/>
            <a:r>
              <a:t>• Streaming SSE: delta + tool_call + tool_result + citations</a:t>
            </a:r>
            <a:br/>
            <a:r>
              <a:t>• Interpreter panel: lihat thinking, tool args, sources (transparansi)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Tech Stack — Rekomendasi Implementasi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Document Parsing:</a:t>
            </a:r>
            <a:br/>
            <a:r>
              <a:t>• PDF: PyMuPDF (fitz) + pdfplumber (untuk table) — import fitz, doc = fitz.open('sop.pdf'), blocks = page.get_text('dict')['blocks']</a:t>
            </a:r>
            <a:br/>
            <a:r>
              <a:t>• DOCX: python-docx</a:t>
            </a:r>
            <a:br/>
            <a:r>
              <a:t>• MD/TXT: Native + markdown-it</a:t>
            </a:r>
            <a:br/>
            <a:r>
              <a:t>• Table extract: camelot / tabula (optional)</a:t>
            </a:r>
            <a:br/>
            <a:br/>
            <a:r>
              <a:t>Embedding &amp; Vector DB:</a:t>
            </a:r>
            <a:br/>
            <a:r>
              <a:t>• Embedding (lokal): sentence-transformers/all-MiniLM-L6-v2 (384 dim, cepat)</a:t>
            </a:r>
            <a:br/>
            <a:r>
              <a:t>• Embedding (API): OpenAI text-embedding-3-small</a:t>
            </a:r>
            <a:br/>
            <a:r>
              <a:t>• Vector DB (dev): Chroma — pip install chromadb, client = chromadb.PersistentClient(path='./data/chroma'), col = client.get_or_create_collection('knowledge'), col.add(ids, embeddings, metadatas, documents)</a:t>
            </a:r>
            <a:br/>
            <a:r>
              <a:t>• Vector DB (prod): Qdrant / pgvector</a:t>
            </a:r>
            <a:br/>
            <a:r>
              <a:t>• Reranker: bge-reranker-base</a:t>
            </a:r>
            <a:br/>
            <a:br/>
            <a:r>
              <a:t>Frontend Visual:</a:t>
            </a:r>
            <a:br/>
            <a:r>
              <a:t>• Flowchart/Graph: Reuse GraphView.tsx (sudah ada, interaktif pan/zoom/drag)</a:t>
            </a:r>
            <a:br/>
            <a:r>
              <a:t>• Bar/Line/Pie Chart: Custom div + flex (simple) atau recharts</a:t>
            </a:r>
            <a:br/>
            <a:r>
              <a:t>• Table: HTML table + sort/filter state</a:t>
            </a:r>
            <a:br/>
            <a:r>
              <a:t>• Timeline: Custom vertical timeline component</a:t>
            </a:r>
            <a:br/>
            <a:r>
              <a:t>• Mermaid fallback: Sudah ada Mermaid.tsx</a:t>
            </a:r>
            <a:br/>
            <a:r>
              <a:t>• Simple bar chart tanpa lib: &lt;div&gt;{data.map(d =&gt; &lt;div key={d.x} style={{width: `${d.y}%`}}&gt;{d.x}&lt;/div&gt;)}&lt;/div&gt;</a:t>
            </a:r>
            <a:br/>
            <a:br/>
            <a:r>
              <a:t>Integrasi ke ask-anything (existing codebase):</a:t>
            </a:r>
            <a:br/>
            <a:r>
              <a:t>• Backend: tambah file backend/app/tools/rag.py (tool retrieve_knowledge), backend/app/rag/ folder (ingestion, vector store, chunking). Tambah routes /api/documents/* dan /api/rag/* di api/routes.py</a:t>
            </a:r>
            <a:br/>
            <a:r>
              <a:t>• Frontend: tambah components/DocumentUploader.tsx, components/ChartRenderer.tsx, components/TableRenderer.tsx, lib/renderRegistry.ts</a:t>
            </a:r>
            <a:br/>
            <a:r>
              <a:t>• DB: tambah table documents di db.py, atau pakai Chroma terpisah</a:t>
            </a:r>
            <a:br/>
            <a:r>
              <a:t>• Agent: daftarkan tools baru di tools/__init__.py → otomatis masuk ke LLM tool_schemas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200" b="1">
                <a:solidFill>
                  <a:srgbClr val="F2F2F7"/>
                </a:solidFill>
              </a:defRPr>
            </a:pPr>
            <a:r>
              <a:t>Task Breakdown — Untuk Dikerjakan (5 Task Incremental)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800" b="0">
                <a:solidFill>
                  <a:srgbClr val="C7C9D6"/>
                </a:solidFill>
              </a:defRPr>
            </a:pPr>
            <a:r>
              <a:t>Task 1 — Document Upload &amp; Structure Parser (2-3 hari):</a:t>
            </a:r>
            <a:br/>
            <a:r>
              <a:t>Goal: User bisa upload PDF/DOCX/MD, backend ekstrak struktur. Buat endpoint POST /api/documents/upload (multipart), Parse PDF: text, headings (font size), tables (pdfplumber), simpan JSON struktur, Parse DOCX: paragraphs, tables, headings, Simpan file di data/documents/{id}/original.pdf + structure.json, UI: komponen uploader drag &amp; drop + list dokumen + preview struktur, DB: table documents(id, name, type, pages, structure_path, created_at). Deliverable: Upload 1 PDF → lihat struktur JSON di UI</a:t>
            </a:r>
            <a:br/>
            <a:br/>
            <a:r>
              <a:t>Task 2 — RAG Pipeline (Chunk + Embed + Store) (3-4 hari):</a:t>
            </a:r>
            <a:br/>
            <a:r>
              <a:t>Goal: Dokumen ter-chunk structure-aware, ter-embed, masuk vector DB, bisa di-query. Chunking: 400 tokens, overlap 50, jangan potong table/flow, hierarchy dari headings, Embedding: sentence-transformers lokal (all-MiniLM-L6-v2), Vector DB: Chroma persistent (data/chroma), Metadata: doc_id, page, hierarchy, type, visualizable, visual_type, Endpoint POST /api/rag/query → top-k + scores + metadata, Test: query 'cuti tahunan' → harus return chunk tabel p2. Deliverable: Query API return relevant chunks dengan hierarchy</a:t>
            </a:r>
            <a:br/>
            <a:br/>
            <a:r>
              <a:t>Task 3 — Agent Tool: retrieve_knowledge (2 hari):</a:t>
            </a:r>
            <a:br/>
            <a:r>
              <a:t>Goal: Agent bisa panggil RAG sebagai tool. Buat tool retrieve_knowledge di backend/app/tools/rag.py, Tool args: query, top_k, filter (doc_id, type), Tool return: contexts + sources (untuk sitasi), Daftarkan di tools/__init__.py → otomatis jadi tool LLM, Set source=knowledge, evidence=True (jadi sumber sitasi), Update system prompt: instruksi jawab hanya dari konteks + sitasi, Test: chat 'Apa isi SOP cuti?' → agent panggil retrieve_knowledge → jawab grounded. Deliverable: Chat Q&amp;A dari dokumen dengan sitasi [1]</a:t>
            </a:r>
            <a:br/>
            <a:br/>
            <a:r>
              <a:t>Task 4 — Visual Tools &amp; Native Rendering (3-4 hari):</a:t>
            </a:r>
            <a:br/>
            <a:r>
              <a:t>Goal: Agent bisa generate visual sebagai elemen web, bukan hanya mermaid. Tools baru: create_chart, create_table, create_timeline (selain create_diagram yang sudah ada), Setiap tool return structured JSON (bukan string): {type, data, x_key, y_key, ...}, Frontend: buat ChartRenderer.tsx (bar chart pakai div), TableRenderer.tsx (sortable), TimelineRenderer.tsx, Registry: lib/visualRegistry.ts → type → component, DiagramBlock: extend untuk handle chart/table/timeline (bukan hanya graph/mermaid), Test: 'Visualkan tabel cuti jadi bar chart' → Agent: retrieve table → create_chart → render BarChart interaktif. Deliverable: Chat → visual chart/table/flow sebagai DOM interaktif</a:t>
            </a:r>
            <a:br/>
            <a:br/>
            <a:r>
              <a:t>Task 5 — Polish &amp; Integration (2 hari) Stretch Goal:</a:t>
            </a:r>
            <a:br/>
            <a:r>
              <a:t>UI: gabungkan uploader + chat + visual dalam 1 page (layout 3 kolom: docs | chat | visual), Filtering: user bisa pilih dokumen mana yang jadi knowledge base untuk query ini, Citations: klik [1] → scroll ke chunk sumber + highlight, Interpreter: tampilkan retrieval scores, chunk metadata di tab Tools, Error handling: jika similarity &lt; 0.7 → jawab 'tidak ada info', Performance: embedding batch, caching, lazy load, Export: chat + visual → PDF/MD, Testing: unit test chunking, embedding, retrieval, Dokumentasi: README + demo video, Bonus: support image di PDF (OCR dengan pytesseract). Deliverable: Aplikasi RAG+Agent+Visual full flow, siap demo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Kriteria Sukses &amp;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✅ Must Have (Wajib):</a:t>
            </a:r>
            <a:br/>
            <a:r>
              <a:t>• Upload PDF/DOCX/MD berfungsi, struktur tersimpan (JSON) dengan hierarchy</a:t>
            </a:r>
            <a:br/>
            <a:r>
              <a:t>• Chunking structure-aware (table tidak terpotong)</a:t>
            </a:r>
            <a:br/>
            <a:r>
              <a:t>• Vector DB + retrieval (top-k, threshold) berfungsi</a:t>
            </a:r>
            <a:br/>
            <a:r>
              <a:t>• Agent tool retrieve_knowledge terintegrasi ke loop</a:t>
            </a:r>
            <a:br/>
            <a:r>
              <a:t>• Jawaban grounded + sitasi [1][2] (verifikasi backend, bukan percaya LLM)</a:t>
            </a:r>
            <a:br/>
            <a:r>
              <a:t>• Minimal 1 visual native: chart atau table atau flowchart sebagai elemen web (bukan hanya mermaid string)</a:t>
            </a:r>
            <a:br/>
            <a:r>
              <a:t>• Chat streaming SSE tetap jalan</a:t>
            </a:r>
            <a:br/>
            <a:r>
              <a:t>• Tidak hallucination saat dokumen tidak relevan (jawab 'tidak tahu')</a:t>
            </a:r>
            <a:br/>
            <a:br/>
            <a:r>
              <a:t>🌟 Nice to Have (Nilai Plus):</a:t>
            </a:r>
            <a:br/>
            <a:r>
              <a:t>• Multiple visual types (chart + table + timeline + graph)</a:t>
            </a:r>
            <a:br/>
            <a:r>
              <a:t>• Interaktif: drag node, sort table, filter chart</a:t>
            </a:r>
            <a:br/>
            <a:r>
              <a:t>• Reranker (bge-reranker) untuk akurasi retrieval</a:t>
            </a:r>
            <a:br/>
            <a:r>
              <a:t>• Metadata filtering (cari hanya di dokumen X, atau type=table)</a:t>
            </a:r>
            <a:br/>
            <a:r>
              <a:t>• Preview struktur dokumen di UI (tree view hierarchy)</a:t>
            </a:r>
            <a:br/>
            <a:r>
              <a:t>• Citations klik → highlight sumber</a:t>
            </a:r>
            <a:br/>
            <a:r>
              <a:t>• Support 10+ dokumen, 1000+ chunks tanpa lag</a:t>
            </a:r>
            <a:br/>
            <a:r>
              <a:t>• Unit tests + dokumentasi</a:t>
            </a:r>
            <a:br/>
            <a:r>
              <a:t>• Fullscreen visual +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DEMO SCENARIO — Yang Harus Bisa Didemo:</a:t>
            </a:r>
            <a:br/>
            <a:br/>
            <a:r>
              <a:t>1. Upload SOP-Cuti.pdf (12 halaman, ada tabel &amp; flowchart text)</a:t>
            </a:r>
            <a:br/>
            <a:r>
              <a:t>→ UI tampil: 'Dokumen berhasil diproses: 12 halaman, 34 chunks, 2 tables, 1 flow'</a:t>
            </a:r>
            <a:br/>
            <a:br/>
            <a:r>
              <a:t>2. Chat: 'Berapa hari cuti tahunan?'</a:t>
            </a:r>
            <a:br/>
            <a:r>
              <a:t>→ Agent: call retrieve_knowledge('cuti tahunan') → dapat chunk tabel p2</a:t>
            </a:r>
            <a:br/>
            <a:r>
              <a:t>→ Jawab: 'Cuti tahunan 12 hari [1]' + citation bar</a:t>
            </a:r>
            <a:br/>
            <a:br/>
            <a:r>
              <a:t>3. Chat: 'Buatkan flowchart proses pengajuan cuti'</a:t>
            </a:r>
            <a:br/>
            <a:r>
              <a:t>→ Agent: call retrieve_knowledge(filter type=flow) → dapat 'Karyawan → Atasan → HR → Selesai'</a:t>
            </a:r>
            <a:br/>
            <a:r>
              <a:t>→ call create_diagram(nodes=[...], edges=[...])</a:t>
            </a:r>
            <a:br/>
            <a:r>
              <a:t>→ Jawab: teks + GraphView interaktif (bisa drag/zoom)</a:t>
            </a:r>
            <a:br/>
            <a:br/>
            <a:r>
              <a:t>4. Chat: 'Visualkan tabel cuti jadi bar chart'</a:t>
            </a:r>
            <a:br/>
            <a:r>
              <a:t>→ Agent: retrieve table chunk → create_chart(data tabel, type bar)</a:t>
            </a:r>
            <a:br/>
            <a:r>
              <a:t>→ Jawab: BarChart interaktif (bukan image, tapi div yang bisa hover)</a:t>
            </a:r>
            <a:br/>
            <a:br/>
            <a:r>
              <a:t>5. Chat: 'Apa kebijakan WFH di dokumen ini?' (tidak ada di dokumen)</a:t>
            </a:r>
            <a:br/>
            <a:r>
              <a:t>→ Agent: retrieve → similarity rendah (0.45)</a:t>
            </a:r>
            <a:br/>
            <a:r>
              <a:t>→ Jawab: 'Maaf, tidak ada informasi tentang WFH di dokumen yang di-upload.'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Best Practices &amp;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✅ Do:</a:t>
            </a:r>
            <a:br/>
            <a:r>
              <a:t>• Simpan struktur: hierarchy, type, page — bukan cuma text</a:t>
            </a:r>
            <a:br/>
            <a:r>
              <a:t>• Chunk smart: jangan potong table/list/flow, pakai overlap</a:t>
            </a:r>
            <a:br/>
            <a:r>
              <a:t>• Threshold: jika similarity &lt;0.7, jangan pakai context (cegah hallucination)</a:t>
            </a:r>
            <a:br/>
            <a:r>
              <a:t>• Structured JSON first: tool return JSON, bukan string → frontend render</a:t>
            </a:r>
            <a:br/>
            <a:r>
              <a:t>• Citations: verifikasi di backend, bukan percaya LLM</a:t>
            </a:r>
            <a:br/>
            <a:r>
              <a:t>• Streaming: SSE untuk delta + tool_call + citations (UX)</a:t>
            </a:r>
            <a:br/>
            <a:r>
              <a:t>• Timeout &amp; graceful: tool error → jadi data, bukan crash</a:t>
            </a:r>
            <a:br/>
            <a:br/>
            <a:r>
              <a:t>Referensi Codebase ask-anything yang Bisa Direuse:</a:t>
            </a:r>
            <a:br/>
            <a:r>
              <a:t>• backend/app/tools/base.py: Tool class, ToolResult, source, evidence</a:t>
            </a:r>
            <a:br/>
            <a:r>
              <a:t>• backend/app/tools/diagrams.py: Contoh tool visual return structured + mermaid fallback</a:t>
            </a:r>
            <a:br/>
            <a:r>
              <a:t>• backend/app/agent/loop.py: Agent loop ReAct, tool execution, sources registry</a:t>
            </a:r>
            <a:br/>
            <a:r>
              <a:t>• backend/app/sources.py: Citation registry &amp; verification</a:t>
            </a:r>
            <a:br/>
            <a:r>
              <a:t>• frontend/components/GraphView.tsx: Contoh visual native interaktif (pan/zoom/drag)</a:t>
            </a:r>
            <a:br/>
            <a:r>
              <a:t>• frontend/components/DiagramBlock.tsx: Renderer handle mermaid + graph JSON</a:t>
            </a:r>
            <a:br/>
            <a:r>
              <a:t>• frontend/lib/graph/layout.ts: Layout deterministik untuk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9144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❌ Don't:</a:t>
            </a:r>
            <a:br/>
            <a:r>
              <a:t>• Jangan chunk fixed 512 tanpa lihat struktur → tabel hancur</a:t>
            </a:r>
            <a:br/>
            <a:r>
              <a:t>• Jangan langsung embed tanpa cleaning (buang header/footer)</a:t>
            </a:r>
            <a:br/>
            <a:r>
              <a:t>• Jangan pakai embedding model terlalu besar untuk dev (lambat)</a:t>
            </a:r>
            <a:br/>
            <a:r>
              <a:t>• Jangan return visual hanya sebagai mermaid string → tidak interaktif</a:t>
            </a:r>
            <a:br/>
            <a:r>
              <a:t>• Jangan percaya LLM untuk sitasi → harus verifikasi backend</a:t>
            </a:r>
            <a:br/>
            <a:r>
              <a:t>• Jangan simpan vector di memory saja → harus persistent (Chroma)</a:t>
            </a:r>
            <a:br/>
            <a:r>
              <a:t>• Jangan lupakan metadata filtering → user mau filter per dokumen</a:t>
            </a:r>
            <a:br/>
            <a:br/>
            <a:r>
              <a:t>🐛 Pitfalls Umum:</a:t>
            </a:r>
            <a:br/>
            <a:r>
              <a:t>• PDF scanned: text tidak bisa di-extract → butuh OCR (pytesseract)</a:t>
            </a:r>
            <a:br/>
            <a:r>
              <a:t>• Table kompleks: pdfplumber gagal → fallback ke camelot/tabula</a:t>
            </a:r>
            <a:br/>
            <a:r>
              <a:t>• Embedding lambat: batch embedding, cache, atau pakai model kecil dulu</a:t>
            </a:r>
            <a:br/>
            <a:r>
              <a:t>• Context bengkak: top-k terlalu banyak → LLM bingung, batasi 5</a:t>
            </a:r>
            <a:br/>
            <a:r>
              <a:t>• Hallucination tetap: prompt harus eksplisit 'jika tidak ada di konteks, bilang tidak tahu'</a:t>
            </a:r>
            <a:br/>
            <a:r>
              <a:t>• Visual tidak muncul: pastikan tool return JSON valid + frontend registry 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0"/>
            <a:ext cx="34747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C7C9D6"/>
                </a:solidFill>
              </a:defRPr>
            </a:pPr>
            <a:r>
              <a:t>File Structure Target:</a:t>
            </a:r>
            <a:br/>
            <a:r>
              <a:t>backend/</a:t>
            </a:r>
            <a:br/>
            <a:r>
              <a:t>  app/</a:t>
            </a:r>
            <a:br/>
            <a:r>
              <a:t>    rag/</a:t>
            </a:r>
            <a:br/>
            <a:r>
              <a:t>      parser.py (PDF/DOCX → structure)</a:t>
            </a:r>
            <a:br/>
            <a:r>
              <a:t>      chunker.py (structure → chunks)</a:t>
            </a:r>
            <a:br/>
            <a:r>
              <a:t>      embedder.py (chunks → vectors)</a:t>
            </a:r>
            <a:br/>
            <a:r>
              <a:t>      vectorstore.py (Chroma wrapper)</a:t>
            </a:r>
            <a:br/>
            <a:r>
              <a:t>    tools/</a:t>
            </a:r>
            <a:br/>
            <a:r>
              <a:t>      rag.py (retrieve_knowledge)</a:t>
            </a:r>
            <a:br/>
            <a:r>
              <a:t>      charts.py (create_chart/table)</a:t>
            </a:r>
            <a:br/>
            <a:r>
              <a:t>      diagrams.py (existing)</a:t>
            </a:r>
            <a:br/>
            <a:r>
              <a:t>    api/routes.py (+ /documents, /rag)</a:t>
            </a:r>
            <a:br/>
            <a:r>
              <a:t>    db.py (+ documents table)</a:t>
            </a:r>
            <a:br/>
            <a:r>
              <a:t>data/</a:t>
            </a:r>
            <a:br/>
            <a:r>
              <a:t>  documents/{id}/</a:t>
            </a:r>
            <a:br/>
            <a:r>
              <a:t>    original.pdf</a:t>
            </a:r>
            <a:br/>
            <a:r>
              <a:t>    structure.json</a:t>
            </a:r>
            <a:br/>
            <a:r>
              <a:t>  chroma/ (vector DB)</a:t>
            </a:r>
            <a:br/>
            <a:r>
              <a:t>frontend/</a:t>
            </a:r>
            <a:br/>
            <a:r>
              <a:t>  components/</a:t>
            </a:r>
            <a:br/>
            <a:r>
              <a:t>    DocumentUploader.tsx</a:t>
            </a:r>
            <a:br/>
            <a:r>
              <a:t>    ChartRenderer.tsx</a:t>
            </a:r>
            <a:br/>
            <a:r>
              <a:t>    TableRenderer.tsx</a:t>
            </a:r>
            <a:br/>
            <a:r>
              <a:t>    GraphView.tsx (existing, reuse)</a:t>
            </a:r>
            <a:br/>
            <a:r>
              <a:t>  lib/visualRegistry.ts</a:t>
            </a:r>
            <a:br/>
            <a:br/>
            <a:r>
              <a:t>Key Insight: Visual sebagai Data, bukan String</a:t>
            </a:r>
            <a:br/>
            <a:r>
              <a:t>Tool return {type:flowchart, nodes:[...], edges:[...]} → Frontend visualRegistry[type] → React component. Data tetap ada untuk reasoning selanjutnya, bisa di-export, bisa interaktif. Beda dari Mermaid yang hanya string → SVG statis.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600" b="1">
                <a:solidFill>
                  <a:srgbClr val="F2F2F7"/>
                </a:solidFill>
              </a:defRPr>
            </a:pPr>
            <a:r>
              <a:t>Next Steps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C7C9D6"/>
                </a:solidFill>
              </a:defRPr>
            </a:pPr>
            <a:r>
              <a:t>📚 Resources Wajib Baca:</a:t>
            </a:r>
            <a:br/>
            <a:r>
              <a:t>• RAG Paper: Lewis et al. 2020 — Retrieval-Augmented Generation</a:t>
            </a:r>
            <a:br/>
            <a:r>
              <a:t>• Chunking: LangChain docs — Text Splitters, Semantic Chunking</a:t>
            </a:r>
            <a:br/>
            <a:r>
              <a:t>• Embedding: Sentence-Transformers docs, BGE models</a:t>
            </a:r>
            <a:br/>
            <a:r>
              <a:t>• Vector DB: Chroma docs, Qdrant docs</a:t>
            </a:r>
            <a:br/>
            <a:r>
              <a:t>• Agent: ReAct paper (Yao et al. 2022), OpenAI Function Calling docs</a:t>
            </a:r>
            <a:br/>
            <a:r>
              <a:t>• Visual: Lihat GraphView.tsx di repo ini — contoh visual native interaktif</a:t>
            </a:r>
            <a:br/>
            <a:br/>
            <a:r>
              <a:t>Quick start Chroma:</a:t>
            </a:r>
            <a:br/>
            <a:r>
              <a:t>pip install chromadb sentence-transformers pymupdf pdfplumber python-docx</a:t>
            </a:r>
            <a:br/>
            <a:r>
              <a:t># Test embedding</a:t>
            </a:r>
            <a:br/>
            <a:r>
              <a:t>from sentence_transformers import SentenceTransformer</a:t>
            </a:r>
            <a:br/>
            <a:r>
              <a:t>model = SentenceTransformer('all-MiniLM-L6-v2')</a:t>
            </a:r>
            <a:br/>
            <a:r>
              <a:t>vec = model.encode('test')</a:t>
            </a:r>
            <a:br/>
            <a:r>
              <a:t>print(len(vec)) # 384</a:t>
            </a:r>
            <a:br/>
            <a:br/>
            <a:r>
              <a:t>FAQ:</a:t>
            </a:r>
            <a:br/>
            <a:r>
              <a:t>Q: Embedding model apa?</a:t>
            </a:r>
            <a:br/>
            <a:r>
              <a:t>A: Dev: all-MiniLM-L6-v2 (cepat, 384 dim, 80MB). Prod: bge-m3 (1024 dim, lebih akurat). Bisa juga OpenAI text-embedding-3-small jika ada API key.</a:t>
            </a:r>
            <a:br/>
            <a:r>
              <a:t>Q: Vector DB apa?</a:t>
            </a:r>
            <a:br/>
            <a:r>
              <a:t>A: Chroma untuk kemudahan (persist lokal, no server). Qdrant jika butuh scale. Di repo ini SQLite + sqlite-vss juga bisa untuk zero-ops.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000" b="0">
                <a:solidFill>
                  <a:srgbClr val="9AA0B2"/>
                </a:solidFill>
              </a:defRPr>
            </a:pPr>
            <a:r>
              <a:t>🎯 Mulai dari Mana? (14 hari):</a:t>
            </a:r>
            <a:br/>
            <a:r>
              <a:t>• Hari 1: Clone repo ask-anything, pahami loop.py, tools/diagrams.py, GraphView.tsx</a:t>
            </a:r>
            <a:br/>
            <a:r>
              <a:t>• Hari 2-3: Task 1 — upload &amp; parser (fokus PDF dulu)</a:t>
            </a:r>
            <a:br/>
            <a:r>
              <a:t>• Hari 4-6: Task 2 — chunking + embedding + Chroma</a:t>
            </a:r>
            <a:br/>
            <a:r>
              <a:t>• Hari 7-8: Task 3 — tool retrieve_knowledge + integrasi agent</a:t>
            </a:r>
            <a:br/>
            <a:r>
              <a:t>• Hari 9-11: Task 4 — visual tools (chart/table)</a:t>
            </a:r>
            <a:br/>
            <a:r>
              <a:t>• Hari 12-13: Task 5 — polish, filtering, citations klik</a:t>
            </a:r>
            <a:br/>
            <a:r>
              <a:t>• Hari 14: Demo &amp; dokumentasi</a:t>
            </a:r>
            <a:br/>
            <a:br/>
            <a:r>
              <a:t>💡 Tips: Jangan build semuanya sekaligus. Incremental: upload → RAG → agent → visual. Setiap task harus bisa didemo.</a:t>
            </a:r>
            <a:br/>
            <a:br/>
            <a:r>
              <a:t>Q: Bagaimana handle PDF scanned (gambar)?</a:t>
            </a:r>
            <a:br/>
            <a:r>
              <a:t>A: Pakai OCR: pytesseract atau easyocr. Cek jika page.get_text() kosong → fallback OCR. Ini stretch goal.</a:t>
            </a:r>
            <a:br/>
            <a:br/>
            <a:r>
              <a:t>Q: Visual harus pakai library?</a:t>
            </a:r>
            <a:br/>
            <a:r>
              <a:t>A: Tidak wajib. Bar chart bisa pakai div + width %, table pakai HTML table native. GraphView sudah ada di repo, bisa reuse. Yang penting JSON → DOM, bukan string → image.</a:t>
            </a:r>
            <a:br/>
            <a:br/>
            <a:r>
              <a:t>Materi ini ada di docs/slides-rag-agent.html (interaktif) dan docs/slides-rag-agent.pptx (presentasi). Codebase: ask-anything — lihat TEKNIS.md untuk detail arsitektur existing.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315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200" b="1">
                <a:solidFill>
                  <a:srgbClr val="F2F2F7"/>
                </a:solidFill>
              </a:defRPr>
            </a:pPr>
            <a:r>
              <a:t>Dari Dokumen</a:t>
            </a:r>
            <a:br/>
            <a:r>
              <a:t>Menjadi Knowledge yang</a:t>
            </a:r>
            <a:br/>
            <a:r>
              <a:t>Bisa Ditanya &amp; Divisualisasikan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🎯 Ingat Goal</a:t>
            </a:r>
            <a:br/>
            <a:r>
              <a:t>Jawaban AI berdasarkan knowledge yang diberikan (upload dokumen, simpan berstruktur, retrieve) + visualisasi langsung ke elemen web (bukan hanya mermaid).</a:t>
            </a:r>
            <a:br/>
            <a:br/>
            <a:r>
              <a:t>Grounded + structure-aware + visual 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32004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9AA0B2"/>
                </a:solidFill>
              </a:defRPr>
            </a:pPr>
            <a:r>
              <a:t>🧩 3 Pilar yang Sudah Dipelajari</a:t>
            </a:r>
            <a:br/>
            <a:r>
              <a:t>RAG: ingestion (parse→chunk→embed→store) + retrieval (similarity+rerank)</a:t>
            </a:r>
            <a:br/>
            <a:r>
              <a:t>Agent: ReAct loop + tool orchestration + task decomposition</a:t>
            </a:r>
            <a:br/>
            <a:r>
              <a:t>Visual: JSON → React component (GraphView, Chart, Table) — interaktif, bukan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2004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C7C9D6"/>
                </a:solidFill>
              </a:defRPr>
            </a:pPr>
            <a:r>
              <a:t>🚀 Mulai Sekarang</a:t>
            </a:r>
            <a:br/>
            <a:r>
              <a:t>Clone repo, pahami loop.py &amp; GraphView.tsx, lalu kerjakan Task 1: upload &amp; parser. Setiap task incremental &amp; demo-able.</a:t>
            </a:r>
            <a:br/>
            <a:br/>
            <a:r>
              <a:t>Materi: docs/slides-rag-agent.html (interaktif, 30 slides, visual live) + docs/slides-rag-agent.pptx (22 slides)</a:t>
            </a:r>
            <a:br/>
            <a:br/>
            <a:r>
              <a:t>Codebase: ask-anything — FastAPI + Next.js + SQLite + Tools + Mechanistic Interpreter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